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92F"/>
                </a:solidFill>
                <a:latin typeface="Calibri"/>
              </a:defRPr>
            </a:pPr>
            <a:r>
              <a:t>SMART INDIA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0A192F"/>
                </a:solidFill>
                <a:latin typeface="Calibri"/>
              </a:rPr>
              <a:t>• Problem Statement ID – </a:t>
            </a:r>
            <a:r>
              <a:rPr sz="1700" b="1">
                <a:solidFill>
                  <a:srgbClr val="0096D6"/>
                </a:solidFill>
                <a:latin typeface="Calibri"/>
              </a:rPr>
              <a:t>SIH26191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A192F"/>
                </a:solidFill>
                <a:latin typeface="Calibri"/>
              </a:rPr>
              <a:t>• Problem Statement Title – </a:t>
            </a:r>
            <a:r>
              <a:rPr sz="1700" b="1">
                <a:solidFill>
                  <a:srgbClr val="0F172A"/>
                </a:solidFill>
                <a:latin typeface="Calibri"/>
              </a:rPr>
              <a:t>Intelligent Identification of Hazard-Based Red Zones, Carrying Capacity Assessment, and Immediate Relocation Needs for Vulnerable Habitations.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A192F"/>
                </a:solidFill>
                <a:latin typeface="Calibri"/>
              </a:rPr>
              <a:t>• Organization – </a:t>
            </a:r>
            <a:r>
              <a:rPr sz="1700" b="0">
                <a:solidFill>
                  <a:srgbClr val="0F172A"/>
                </a:solidFill>
                <a:latin typeface="Calibri"/>
              </a:rPr>
              <a:t>Ministry of Home Affairs (MHA) / NDRF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A192F"/>
                </a:solidFill>
                <a:latin typeface="Calibri"/>
              </a:rPr>
              <a:t>• Theme – </a:t>
            </a:r>
            <a:r>
              <a:rPr sz="1700" b="0">
                <a:solidFill>
                  <a:srgbClr val="0F172A"/>
                </a:solidFill>
                <a:latin typeface="Calibri"/>
              </a:rPr>
              <a:t>Disaster Management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A192F"/>
                </a:solidFill>
                <a:latin typeface="Calibri"/>
              </a:rPr>
              <a:t>• PS Category – </a:t>
            </a:r>
            <a:r>
              <a:rPr sz="1700" b="0">
                <a:solidFill>
                  <a:srgbClr val="0F172A"/>
                </a:solidFill>
                <a:latin typeface="Calibri"/>
              </a:rPr>
              <a:t>Software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A192F"/>
                </a:solidFill>
                <a:latin typeface="Calibri"/>
              </a:rPr>
              <a:t>• Team ID – </a:t>
            </a:r>
            <a:r>
              <a:rPr sz="1700" b="0">
                <a:solidFill>
                  <a:srgbClr val="0F172A"/>
                </a:solidFill>
                <a:latin typeface="Calibri"/>
              </a:rPr>
              <a:t>170297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A192F"/>
                </a:solidFill>
                <a:latin typeface="Calibri"/>
              </a:rPr>
              <a:t>• Team Name – </a:t>
            </a:r>
            <a:r>
              <a:rPr sz="1700" b="1">
                <a:solidFill>
                  <a:srgbClr val="0096D6"/>
                </a:solidFill>
                <a:latin typeface="Calibri"/>
              </a:rPr>
              <a:t>NOVACORE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46720" y="1645920"/>
            <a:ext cx="3474720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0"/>
          <a:lstStyle/>
          <a:p>
            <a:pPr algn="ctr">
              <a:defRPr sz="2000" b="1">
                <a:solidFill>
                  <a:srgbClr val="0A192F"/>
                </a:solidFill>
                <a:latin typeface="Calibri"/>
              </a:defRPr>
            </a:pPr>
            <a:r>
              <a:t>🛡️ RAKSHASETU (रक्षासेतु)</a:t>
            </a:r>
          </a:p>
          <a:p>
            <a:pPr algn="ctr">
              <a:spcAft>
                <a:spcPts val="1400"/>
              </a:spcAft>
              <a:defRPr sz="1200">
                <a:solidFill>
                  <a:srgbClr val="0096D6"/>
                </a:solidFill>
                <a:latin typeface="Calibri"/>
              </a:defRPr>
            </a:pPr>
            <a:r>
              <a:t>MHA / NDRF Decision-Support Platform</a:t>
            </a:r>
          </a:p>
          <a:p>
            <a:pPr algn="ct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📷 [PLACE SIH LOGO / TEAM LOGO HERE]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Calibri"/>
              </a:defRPr>
            </a:pPr>
            <a:r>
              <a:t>PROPOSED SOLUTION: RAKSHASETU (AI-GIS Disaster Decision Platform)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822960"/>
            <a:ext cx="1645920" cy="320040"/>
          </a:xfrm>
          <a:prstGeom prst="round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NOVACORE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28600"/>
            <a:ext cx="18288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0A192F"/>
                </a:solidFill>
                <a:latin typeface="Calibri"/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109167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Calibri"/>
              </a:defRPr>
            </a:pPr>
            <a:r>
              <a:t>@SIH Idea submission - Template | Slide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30352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4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defRPr sz="1250" b="1">
                <a:solidFill>
                  <a:srgbClr val="E5484D"/>
                </a:solidFill>
                <a:latin typeface="Calibri"/>
              </a:defRPr>
            </a:pPr>
            <a:r>
              <a:t>🔴 1. Dynamic Hazard-Based Red-Zone Delineation</a:t>
            </a:r>
          </a:p>
          <a:p>
            <a:pPr>
              <a:defRPr sz="950">
                <a:solidFill>
                  <a:srgbClr val="0F172A"/>
                </a:solidFill>
                <a:latin typeface="Calibri"/>
              </a:defRPr>
            </a:pPr>
            <a:r>
              <a:t> Identifies zones Unsuitable for Permanent Habitation via live multi-hazard feeds.</a:t>
            </a:r>
          </a:p>
          <a:p>
            <a:pPr>
              <a:defRPr sz="950">
                <a:solidFill>
                  <a:srgbClr val="0F172A"/>
                </a:solidFill>
                <a:latin typeface="Calibri"/>
              </a:defRPr>
            </a:pPr>
            <a:r>
              <a:t> 4 Explicit Hazard Models: Floods, Landslides, Coastal Erosion, and Cloudbursts.</a:t>
            </a:r>
          </a:p>
          <a:p>
            <a:pPr>
              <a:defRPr sz="950">
                <a:solidFill>
                  <a:srgbClr val="0F172A"/>
                </a:solidFill>
                <a:latin typeface="Calibri"/>
              </a:defRPr>
            </a:pPr>
            <a:r>
              <a:t> GIS Animated Buffers: Pulsating blowout rings pinpoint danger perimeter on map.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971800"/>
            <a:ext cx="530352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defRPr sz="1250" b="1">
                <a:solidFill>
                  <a:srgbClr val="0096D6"/>
                </a:solidFill>
                <a:latin typeface="Calibri"/>
              </a:defRPr>
            </a:pPr>
            <a:r>
              <a:t>⏱️ 2. 3-Tier Relocation Need Prioritization (Immediate to Long-Term)</a:t>
            </a:r>
          </a:p>
          <a:p>
            <a:pPr>
              <a:defRPr sz="950">
                <a:solidFill>
                  <a:srgbClr val="0F172A"/>
                </a:solidFill>
                <a:latin typeface="Calibri"/>
              </a:defRPr>
            </a:pPr>
            <a:r>
              <a:t> 🔴 Immediate (0–48 Hours): Rapid tactical evacuation for acute life-threats.</a:t>
            </a:r>
          </a:p>
          <a:p>
            <a:pPr>
              <a:defRPr sz="950">
                <a:solidFill>
                  <a:srgbClr val="0F172A"/>
                </a:solidFill>
                <a:latin typeface="Calibri"/>
              </a:defRPr>
            </a:pPr>
            <a:r>
              <a:t> 🟠 Short-Term (1–3 Months): Pre-monsoon planned relocation before floods/slides.</a:t>
            </a:r>
          </a:p>
          <a:p>
            <a:pPr>
              <a:defRPr sz="950">
                <a:solidFill>
                  <a:srgbClr val="0F172A"/>
                </a:solidFill>
                <a:latin typeface="Calibri"/>
              </a:defRPr>
            </a:pPr>
            <a:r>
              <a:t> 🟡 Medium-Term (6–12 Months): Sustainable rehabilitation &amp; permanent housing.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663440"/>
            <a:ext cx="530352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defRPr sz="1250" b="1">
                <a:solidFill>
                  <a:srgbClr val="10B981"/>
                </a:solidFill>
                <a:latin typeface="Calibri"/>
              </a:defRPr>
            </a:pPr>
            <a:r>
              <a:t>🏢 3. Carrying Capacity Assessment &amp; Overcrowding Mitigation</a:t>
            </a:r>
          </a:p>
          <a:p>
            <a:pPr>
              <a:defRPr sz="950">
                <a:solidFill>
                  <a:srgbClr val="0F172A"/>
                </a:solidFill>
                <a:latin typeface="Calibri"/>
              </a:defRPr>
            </a:pPr>
            <a:r>
              <a:t> Evaluates Total Capacity, Pre-Occupancy, and Net Absorption Headroom.</a:t>
            </a:r>
          </a:p>
          <a:p>
            <a:pPr>
              <a:defRPr sz="950">
                <a:solidFill>
                  <a:srgbClr val="0F172A"/>
                </a:solidFill>
                <a:latin typeface="Calibri"/>
              </a:defRPr>
            </a:pPr>
            <a:r>
              <a:t> Automated Multi-Site Split: Prevents secondary disaster outbreak when stress &gt;85%.</a:t>
            </a:r>
          </a:p>
          <a:p>
            <a:pPr>
              <a:defRPr sz="950">
                <a:solidFill>
                  <a:srgbClr val="0F172A"/>
                </a:solidFill>
                <a:latin typeface="Calibri"/>
              </a:defRPr>
            </a:pPr>
            <a:r>
              <a:t> 100% Zero Operating Cost: Powered by free open-source data (Open-Meteo, USGS, OSM).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280160"/>
            <a:ext cx="5486400" cy="777240"/>
          </a:xfrm>
          <a:prstGeom prst="roundRect">
            <a:avLst/>
          </a:prstGeom>
          <a:solidFill>
            <a:srgbClr val="0E2537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100" b="1">
                <a:solidFill>
                  <a:srgbClr val="0096D6"/>
                </a:solidFill>
                <a:latin typeface="Calibri"/>
              </a:defRPr>
            </a:pPr>
            <a:r>
              <a:t>🔗 PROJECT REPOSITORY &amp; LIVE LINKS (Click to Open):</a:t>
            </a:r>
          </a:p>
          <a:p>
            <a:pPr>
              <a:defRPr sz="950">
                <a:solidFill>
                  <a:srgbClr val="FFFFFF"/>
                </a:solidFill>
                <a:latin typeface="Calibri"/>
              </a:defRPr>
            </a:pPr>
            <a:r>
              <a:t>• GitHub Code Repository: https://github.com/vinitmishraaa/RAKSHASETU</a:t>
            </a:r>
          </a:p>
          <a:p>
            <a:pPr>
              <a:defRPr sz="950">
                <a:solidFill>
                  <a:srgbClr val="FFFFFF"/>
                </a:solidFill>
                <a:latin typeface="Calibri"/>
              </a:defRPr>
            </a:pPr>
            <a:r>
              <a:t>• Live Web Dashboard: http://localhost:5173  |  SIH PS-26191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148840"/>
            <a:ext cx="5486400" cy="2057400"/>
          </a:xfrm>
          <a:prstGeom prst="roundRect">
            <a:avLst/>
          </a:prstGeom>
          <a:solidFill>
            <a:srgbClr val="EAF2FA"/>
          </a:solidFill>
          <a:ln w="19050">
            <a:solidFill>
              <a:srgbClr val="388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200" b="1">
                <a:solidFill>
                  <a:srgbClr val="0096D6"/>
                </a:solidFill>
                <a:latin typeface="Calibri"/>
              </a:defRPr>
            </a:pPr>
            <a:r>
              <a:t>📷 [PLACE PHOTO HERE]</a:t>
            </a:r>
          </a:p>
          <a:p>
            <a:pPr algn="ctr">
              <a:defRPr sz="1100" b="1">
                <a:solidFill>
                  <a:srgbClr val="0A192F"/>
                </a:solidFill>
                <a:latin typeface="Calibri"/>
              </a:defRPr>
            </a:pPr>
            <a:r>
              <a:t>Main Dashboard: Multi-Hazard Red-Zone GIS Map</a:t>
            </a:r>
          </a:p>
          <a:p>
            <a:pPr algn="ctr">
              <a:defRPr sz="950">
                <a:solidFill>
                  <a:srgbClr val="64748B"/>
                </a:solidFill>
                <a:latin typeface="Calibri"/>
              </a:defRPr>
            </a:pPr>
            <a:r>
              <a:t>👉 Screenshot: Take screenshot of your Home Dashboard showing the map, West Bengal state-district cascade, pulsating red blowout rings, and safe shelters.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297680"/>
            <a:ext cx="5486400" cy="1965960"/>
          </a:xfrm>
          <a:prstGeom prst="roundRect">
            <a:avLst/>
          </a:prstGeom>
          <a:solidFill>
            <a:srgbClr val="EAF2FA"/>
          </a:solidFill>
          <a:ln w="19050">
            <a:solidFill>
              <a:srgbClr val="388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200" b="1">
                <a:solidFill>
                  <a:srgbClr val="0096D6"/>
                </a:solidFill>
                <a:latin typeface="Calibri"/>
              </a:defRPr>
            </a:pPr>
            <a:r>
              <a:t>📷 [PLACE PHOTO HERE]</a:t>
            </a:r>
          </a:p>
          <a:p>
            <a:pPr algn="ctr">
              <a:defRPr sz="1100" b="1">
                <a:solidFill>
                  <a:srgbClr val="0A192F"/>
                </a:solidFill>
                <a:latin typeface="Calibri"/>
              </a:defRPr>
            </a:pPr>
            <a:r>
              <a:t>Carrying Capacity Assessment &amp; Stress Gauge Card</a:t>
            </a:r>
          </a:p>
          <a:p>
            <a:pPr algn="ctr">
              <a:defRPr sz="950">
                <a:solidFill>
                  <a:srgbClr val="64748B"/>
                </a:solidFill>
                <a:latin typeface="Calibri"/>
              </a:defRPr>
            </a:pPr>
            <a:r>
              <a:t>👉 Screenshot: Take screenshot of Relocation or SafeSites page showing the carrying capacity progress bar (headroom slots, stress %, and absorption metrics).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Calibri"/>
              </a:defRPr>
            </a:pPr>
            <a:r>
              <a:t>TECHNICAL APPROACH: End-to-End System Workflow &amp;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822960"/>
            <a:ext cx="1645920" cy="320040"/>
          </a:xfrm>
          <a:prstGeom prst="round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NOVACORE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28600"/>
            <a:ext cx="18288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0A192F"/>
                </a:solidFill>
                <a:latin typeface="Calibri"/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109167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Calibri"/>
              </a:defRPr>
            </a:pPr>
            <a:r>
              <a:t>@SIH Idea submission - Template | Slide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210312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defRPr sz="1100" b="1">
                <a:solidFill>
                  <a:srgbClr val="0A192F"/>
                </a:solidFill>
                <a:latin typeface="Calibri"/>
              </a:defRPr>
            </a:pPr>
            <a:r>
              <a:t>Step 1: Ingest</a:t>
            </a:r>
          </a:p>
          <a:p>
            <a:pPr>
              <a:defRPr sz="850">
                <a:solidFill>
                  <a:srgbClr val="0F172A"/>
                </a:solidFill>
                <a:latin typeface="Calibri"/>
              </a:defRPr>
            </a:pPr>
            <a:r>
              <a:t>Live Open Telemetry</a:t>
            </a:r>
            <a:br/>
            <a:r>
              <a:t>• Open-Meteo (Rain/Wind)</a:t>
            </a:r>
            <a:br/>
            <a:r>
              <a:t>• USGS (Seismology)</a:t>
            </a:r>
            <a:br/>
            <a:r>
              <a:t>• NDMA SACHET CAP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1280160"/>
            <a:ext cx="210312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4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defRPr sz="1100" b="1">
                <a:solidFill>
                  <a:srgbClr val="0A192F"/>
                </a:solidFill>
                <a:latin typeface="Calibri"/>
              </a:defRPr>
            </a:pPr>
            <a:r>
              <a:t>Step 2: Engine</a:t>
            </a:r>
          </a:p>
          <a:p>
            <a:pPr>
              <a:defRPr sz="850">
                <a:solidFill>
                  <a:srgbClr val="0F172A"/>
                </a:solidFill>
                <a:latin typeface="Calibri"/>
              </a:defRPr>
            </a:pPr>
            <a:r>
              <a:t>3-Pillar Risk Engine</a:t>
            </a:r>
            <a:br/>
            <a:r>
              <a:t>• Hazard Intensity (40%)</a:t>
            </a:r>
            <a:br/>
            <a:r>
              <a:t>• Vulnerability (35%)</a:t>
            </a:r>
            <a:br/>
            <a:r>
              <a:t>• Disaster History (25%)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280160"/>
            <a:ext cx="210312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defRPr sz="1100" b="1">
                <a:solidFill>
                  <a:srgbClr val="0A192F"/>
                </a:solidFill>
                <a:latin typeface="Calibri"/>
              </a:defRPr>
            </a:pPr>
            <a:r>
              <a:t>Step 3: Red Zones</a:t>
            </a:r>
          </a:p>
          <a:p>
            <a:pPr>
              <a:defRPr sz="850">
                <a:solidFill>
                  <a:srgbClr val="0F172A"/>
                </a:solidFill>
                <a:latin typeface="Calibri"/>
              </a:defRPr>
            </a:pPr>
            <a:r>
              <a:t>Red-Zone Delineation</a:t>
            </a:r>
            <a:br/>
            <a:r>
              <a:t>• Multi-hazard unsuitability</a:t>
            </a:r>
            <a:br/>
            <a:r>
              <a:t>• 4 Hazards: Flood, Slide,</a:t>
            </a:r>
            <a:br/>
            <a:r>
              <a:t>  Erosion, Cloudburst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280160"/>
            <a:ext cx="210312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4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defRPr sz="1100" b="1">
                <a:solidFill>
                  <a:srgbClr val="0A192F"/>
                </a:solidFill>
                <a:latin typeface="Calibri"/>
              </a:defRPr>
            </a:pPr>
            <a:r>
              <a:t>Step 4: Safe Sites</a:t>
            </a:r>
          </a:p>
          <a:p>
            <a:pPr>
              <a:defRPr sz="850">
                <a:solidFill>
                  <a:srgbClr val="0F172A"/>
                </a:solidFill>
                <a:latin typeface="Calibri"/>
              </a:defRPr>
            </a:pPr>
            <a:r>
              <a:t>Capacity Assessment</a:t>
            </a:r>
            <a:br/>
            <a:r>
              <a:t>• Headroom &amp; stress %</a:t>
            </a:r>
            <a:br/>
            <a:r>
              <a:t>• Overcrowding split</a:t>
            </a:r>
            <a:br/>
            <a:r>
              <a:t>• OSRM road routing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1280160"/>
            <a:ext cx="210312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defRPr sz="1100" b="1">
                <a:solidFill>
                  <a:srgbClr val="0A192F"/>
                </a:solidFill>
                <a:latin typeface="Calibri"/>
              </a:defRPr>
            </a:pPr>
            <a:r>
              <a:t>Step 5: Action</a:t>
            </a:r>
          </a:p>
          <a:p>
            <a:pPr>
              <a:defRPr sz="850">
                <a:solidFill>
                  <a:srgbClr val="0F172A"/>
                </a:solidFill>
                <a:latin typeface="Calibri"/>
              </a:defRPr>
            </a:pPr>
            <a:r>
              <a:t>SDMA Action Corridor</a:t>
            </a:r>
            <a:br/>
            <a:r>
              <a:t>• 4-Step guided flow</a:t>
            </a:r>
            <a:br/>
            <a:r>
              <a:t>• Google Maps driving</a:t>
            </a:r>
            <a:br/>
            <a:r>
              <a:t>• 🖨️ Printable brief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43200"/>
            <a:ext cx="530352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28016" bIns="128016"/>
          <a:lstStyle/>
          <a:p>
            <a:pPr algn="ctr">
              <a:defRPr sz="1300" b="1">
                <a:solidFill>
                  <a:srgbClr val="0A192F"/>
                </a:solidFill>
                <a:latin typeface="Calibri"/>
              </a:defRPr>
            </a:pPr>
            <a:r>
              <a:t>💻 TECHNOLOGY STACK &amp; SMART CAPABILITIES:</a:t>
            </a:r>
          </a:p>
          <a:p>
            <a:pPr>
              <a:defRPr sz="950">
                <a:solidFill>
                  <a:srgbClr val="0F172A"/>
                </a:solidFill>
                <a:latin typeface="Calibri"/>
              </a:defRPr>
            </a:pPr>
            <a:r>
              <a:t>• Frontend: React 18, TypeScript, Vite, Leaflet.js, Recharts, Custom Glassmorphism UI.</a:t>
            </a:r>
          </a:p>
          <a:p>
            <a:pPr>
              <a:defRPr sz="950">
                <a:solidFill>
                  <a:srgbClr val="0F172A"/>
                </a:solidFill>
                <a:latin typeface="Calibri"/>
              </a:defRPr>
            </a:pPr>
            <a:r>
              <a:t>• Backend &amp; Optimization: Python 3.12, FastAPI, In-Memory Administrative Directory (36 States/UTs).</a:t>
            </a:r>
          </a:p>
          <a:p>
            <a:pPr>
              <a:defRPr sz="950">
                <a:solidFill>
                  <a:srgbClr val="0F172A"/>
                </a:solidFill>
                <a:latin typeface="Calibri"/>
              </a:defRPr>
            </a:pPr>
            <a:r>
              <a:t>• Road Network Routing: Open Source Routing Machine (OSRM) driving route geometry &amp; live ETA.</a:t>
            </a:r>
          </a:p>
          <a:p>
            <a:pPr>
              <a:defRPr sz="950">
                <a:solidFill>
                  <a:srgbClr val="0F172A"/>
                </a:solidFill>
                <a:latin typeface="Calibri"/>
              </a:defRPr>
            </a:pPr>
            <a:r>
              <a:t>• Multi-Hazard Risk Engine: Real-time calculation integrating Floods, Landslides, Coastal Erosion, and Cloudbursts.</a:t>
            </a:r>
          </a:p>
          <a:p>
            <a:pPr>
              <a:defRPr sz="950">
                <a:solidFill>
                  <a:srgbClr val="0F172A"/>
                </a:solidFill>
                <a:latin typeface="Calibri"/>
              </a:defRPr>
            </a:pPr>
            <a:r>
              <a:t>• Disaster History Recurrence: Historical incident penalty directly elevates chronic hazard scores.</a:t>
            </a:r>
          </a:p>
          <a:p>
            <a:pPr>
              <a:defRPr sz="950">
                <a:solidFill>
                  <a:srgbClr val="0F172A"/>
                </a:solidFill>
                <a:latin typeface="Calibri"/>
              </a:defRPr>
            </a:pPr>
            <a:r>
              <a:t>• SDMA Action Suite: 4-step guided evacuation corridor, turn-by-turn driver instructions, and official order export.</a:t>
            </a:r>
          </a:p>
          <a:p>
            <a:pPr>
              <a:defRPr sz="950">
                <a:solidFill>
                  <a:srgbClr val="0F172A"/>
                </a:solidFill>
                <a:latin typeface="Calibri"/>
              </a:defRPr>
            </a:pPr>
            <a:r>
              <a:t>• GitHub Link: https://github.com/vinitmishraaa/RAKSHASETU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743200"/>
            <a:ext cx="5486400" cy="1691640"/>
          </a:xfrm>
          <a:prstGeom prst="roundRect">
            <a:avLst/>
          </a:prstGeom>
          <a:solidFill>
            <a:srgbClr val="EAF2FA"/>
          </a:solidFill>
          <a:ln w="19050">
            <a:solidFill>
              <a:srgbClr val="388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200" b="1">
                <a:solidFill>
                  <a:srgbClr val="0096D6"/>
                </a:solidFill>
                <a:latin typeface="Calibri"/>
              </a:defRPr>
            </a:pPr>
            <a:r>
              <a:t>📷 [PLACE PHOTO HERE]</a:t>
            </a:r>
          </a:p>
          <a:p>
            <a:pPr algn="ctr">
              <a:defRPr sz="1100" b="1">
                <a:solidFill>
                  <a:srgbClr val="0A192F"/>
                </a:solidFill>
                <a:latin typeface="Calibri"/>
              </a:defRPr>
            </a:pPr>
            <a:r>
              <a:t>4-Step Guided Relocation Corridor &amp; OSRM Route</a:t>
            </a:r>
          </a:p>
          <a:p>
            <a:pPr algn="ctr">
              <a:defRPr sz="950">
                <a:solidFill>
                  <a:srgbClr val="64748B"/>
                </a:solidFill>
                <a:latin typeface="Calibri"/>
              </a:defRPr>
            </a:pPr>
            <a:r>
              <a:t>👉 Screenshot: Take screenshot of Relocation page showing Step 1 to Step 4, road distance, ETA, and turn-by-turn road instructions.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4526280"/>
            <a:ext cx="5486400" cy="1737360"/>
          </a:xfrm>
          <a:prstGeom prst="roundRect">
            <a:avLst/>
          </a:prstGeom>
          <a:solidFill>
            <a:srgbClr val="EAF2FA"/>
          </a:solidFill>
          <a:ln w="19050">
            <a:solidFill>
              <a:srgbClr val="388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200" b="1">
                <a:solidFill>
                  <a:srgbClr val="0096D6"/>
                </a:solidFill>
                <a:latin typeface="Calibri"/>
              </a:defRPr>
            </a:pPr>
            <a:r>
              <a:t>📷 [PLACE PHOTO HERE]</a:t>
            </a:r>
          </a:p>
          <a:p>
            <a:pPr algn="ctr">
              <a:defRPr sz="1100" b="1">
                <a:solidFill>
                  <a:srgbClr val="0A192F"/>
                </a:solidFill>
                <a:latin typeface="Calibri"/>
              </a:defRPr>
            </a:pPr>
            <a:r>
              <a:t>Official SDMA Relocation Order Print Preview</a:t>
            </a:r>
          </a:p>
          <a:p>
            <a:pPr algn="ctr">
              <a:defRPr sz="950">
                <a:solidFill>
                  <a:srgbClr val="64748B"/>
                </a:solidFill>
                <a:latin typeface="Calibri"/>
              </a:defRPr>
            </a:pPr>
            <a:r>
              <a:t>👉 Screenshot: Click 'Print SDMA Action Brief' on Relocation page and take screenshot of the print-ready official evacuation order.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Calibri"/>
              </a:defRPr>
            </a:pPr>
            <a:r>
              <a:t>FEASIBILITY &amp; VIABILITY: Operational &amp; Comparative Assessment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822960"/>
            <a:ext cx="1645920" cy="320040"/>
          </a:xfrm>
          <a:prstGeom prst="round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NOVACORE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28600"/>
            <a:ext cx="18288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0A192F"/>
                </a:solidFill>
                <a:latin typeface="Calibri"/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109167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Calibri"/>
              </a:defRPr>
            </a:pPr>
            <a:r>
              <a:t>@SIH Idea submission - Template | Slide 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80160"/>
          <a:ext cx="64008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645920"/>
                <a:gridCol w="1828800"/>
                <a:gridCol w="1463040"/>
              </a:tblGrid>
              <a:tr h="5029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Operational Dimension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Traditional Reactive Method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RakshaSetu Proactive AI-GIS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Advantage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Response Timing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Post-disaster rescue (Panic &amp; delay)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Proactive pre-disaster tiers (0-48h, 1-3m, 6-12m)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Zero panic &amp; loss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Hazard Delineation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Manual, localized post-event survey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Dynamic GIS Multi-Hazard Red-Zone mapping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High precision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Safe Site Allocation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Ad-hoc intake (Severe overcrowding)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Carrying capacity headroom stress % analysis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Prevents stampede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Evacuation Routing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Unverified paths (often blocked)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OSRM real road network &amp; Google Maps handoff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Guaranteed 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Financial Cost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Expensive proprietary GIS licenses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100% Open-source zero-key architecture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₹0 Software Bills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4434840"/>
            <a:ext cx="64008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/>
          <a:lstStyle/>
          <a:p>
            <a:pPr algn="ctr">
              <a:defRPr sz="1150" b="1">
                <a:solidFill>
                  <a:srgbClr val="F59E0B"/>
                </a:solidFill>
                <a:latin typeface="Calibri"/>
              </a:defRPr>
            </a:pPr>
            <a:r>
              <a:t>🎯 3 REASONS WHY RAKSHASETU IS 100% FEASIBLE &amp; VIABLE:</a:t>
            </a:r>
          </a:p>
          <a:p>
            <a:pPr>
              <a:defRPr sz="900">
                <a:solidFill>
                  <a:srgbClr val="0F172A"/>
                </a:solidFill>
                <a:latin typeface="Calibri"/>
              </a:defRPr>
            </a:pPr>
            <a:r>
              <a:t> Zero Key Operating Cost: Relies on public Open-Meteo, USGS, NDMA CAP and OpenStreetMap with no cloud bills.</a:t>
            </a:r>
          </a:p>
          <a:p>
            <a:pPr>
              <a:defRPr sz="900">
                <a:solidFill>
                  <a:srgbClr val="0F172A"/>
                </a:solidFill>
                <a:latin typeface="Calibri"/>
              </a:defRPr>
            </a:pPr>
            <a:r>
              <a:t> Deterministic &amp; Explainable AI: Formulated on clear mathematical equations (40% Hazard, 35% Vulnerability, 25% History) avoiding black-box errors.</a:t>
            </a:r>
          </a:p>
          <a:p>
            <a:pPr>
              <a:defRPr sz="900">
                <a:solidFill>
                  <a:srgbClr val="0F172A"/>
                </a:solidFill>
                <a:latin typeface="Calibri"/>
              </a:defRPr>
            </a:pPr>
            <a:r>
              <a:t> Pan-India Immediate Deployment: All 28 States and 8 UTs pre-indexed; instantly scalable to every SDMA and DDMA.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280160"/>
            <a:ext cx="4480560" cy="2377440"/>
          </a:xfrm>
          <a:prstGeom prst="roundRect">
            <a:avLst/>
          </a:prstGeom>
          <a:solidFill>
            <a:srgbClr val="EAF2FA"/>
          </a:solidFill>
          <a:ln w="19050">
            <a:solidFill>
              <a:srgbClr val="388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200" b="1">
                <a:solidFill>
                  <a:srgbClr val="0096D6"/>
                </a:solidFill>
                <a:latin typeface="Calibri"/>
              </a:defRPr>
            </a:pPr>
            <a:r>
              <a:t>📷 [PLACE PHOTO HERE]</a:t>
            </a:r>
          </a:p>
          <a:p>
            <a:pPr algn="ctr">
              <a:defRPr sz="1100" b="1">
                <a:solidFill>
                  <a:srgbClr val="0A192F"/>
                </a:solidFill>
                <a:latin typeface="Calibri"/>
              </a:defRPr>
            </a:pPr>
            <a:r>
              <a:t>Safe Sites Infrastructure &amp; Headroom Stress Meter</a:t>
            </a:r>
          </a:p>
          <a:p>
            <a:pPr algn="ctr">
              <a:defRPr sz="950">
                <a:solidFill>
                  <a:srgbClr val="64748B"/>
                </a:solidFill>
                <a:latin typeface="Calibri"/>
              </a:defRPr>
            </a:pPr>
            <a:r>
              <a:t>👉 Screenshot: Take screenshot of the Safe Sites page showing multiple shelter cards with occupancy %, absorption headroom, and verified facilities.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3794760"/>
            <a:ext cx="4480560" cy="2468880"/>
          </a:xfrm>
          <a:prstGeom prst="roundRect">
            <a:avLst/>
          </a:prstGeom>
          <a:solidFill>
            <a:srgbClr val="EAF2FA"/>
          </a:solidFill>
          <a:ln w="19050">
            <a:solidFill>
              <a:srgbClr val="388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200" b="1">
                <a:solidFill>
                  <a:srgbClr val="0096D6"/>
                </a:solidFill>
                <a:latin typeface="Calibri"/>
              </a:defRPr>
            </a:pPr>
            <a:r>
              <a:t>📷 [PLACE PHOTO HERE]</a:t>
            </a:r>
          </a:p>
          <a:p>
            <a:pPr algn="ctr">
              <a:defRPr sz="1100" b="1">
                <a:solidFill>
                  <a:srgbClr val="0A192F"/>
                </a:solidFill>
                <a:latin typeface="Calibri"/>
              </a:defRPr>
            </a:pPr>
            <a:r>
              <a:t>Multi-Site Split Allocation to Prevent Overcrowding</a:t>
            </a:r>
          </a:p>
          <a:p>
            <a:pPr algn="ctr">
              <a:defRPr sz="950">
                <a:solidFill>
                  <a:srgbClr val="64748B"/>
                </a:solidFill>
                <a:latin typeface="Calibri"/>
              </a:defRPr>
            </a:pPr>
            <a:r>
              <a:t>👉 Screenshot: Take screenshot showing the Relocation page recommendation when high population is allocated safely across shelters.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Calibri"/>
              </a:defRPr>
            </a:pPr>
            <a:r>
              <a:t>IMPACT &amp; BENEFITS: Saving Lives, Preventing Overcrowding &amp; Empowering SDMA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822960"/>
            <a:ext cx="1645920" cy="320040"/>
          </a:xfrm>
          <a:prstGeom prst="round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NOVACORE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28600"/>
            <a:ext cx="18288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0A192F"/>
                </a:solidFill>
                <a:latin typeface="Calibri"/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109167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Calibri"/>
              </a:defRPr>
            </a:pPr>
            <a:r>
              <a:t>@SIH Idea submission - Template | Slide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3035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54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/>
          <a:lstStyle/>
          <a:p>
            <a:pPr algn="ctr">
              <a:defRPr sz="1150" b="1">
                <a:solidFill>
                  <a:srgbClr val="E5484D"/>
                </a:solidFill>
                <a:latin typeface="Calibri"/>
              </a:defRPr>
            </a:pPr>
            <a:r>
              <a:t>🛡️ 1. Life &amp; Infrastructure Protection (Shifting Reactive to Proactive)</a:t>
            </a:r>
          </a:p>
          <a:p>
            <a:pPr>
              <a:defRPr sz="900">
                <a:solidFill>
                  <a:srgbClr val="0F172A"/>
                </a:solidFill>
                <a:latin typeface="Calibri"/>
              </a:defRPr>
            </a:pPr>
            <a:r>
              <a:t>Eliminates repeated loss of life and property in perennial flood, landslide, erosion, and cloudburst belts by moving vulnerable habitations BEFORE disaster strikes.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53035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/>
          <a:lstStyle/>
          <a:p>
            <a:pPr algn="ctr">
              <a:defRPr sz="1150" b="1">
                <a:solidFill>
                  <a:srgbClr val="0096D6"/>
                </a:solidFill>
                <a:latin typeface="Calibri"/>
              </a:defRPr>
            </a:pPr>
            <a:r>
              <a:t>🏢 2. Prevention of Secondary Disasters &amp; Post-Evacuation Overcrowding</a:t>
            </a:r>
          </a:p>
          <a:p>
            <a:pPr>
              <a:defRPr sz="900">
                <a:solidFill>
                  <a:srgbClr val="0F172A"/>
                </a:solidFill>
                <a:latin typeface="Calibri"/>
              </a:defRPr>
            </a:pPr>
            <a:r>
              <a:t>Mathematical carrying capacity assessment caps intake at safe thresholds, preventing sanitation collapse, epidemic outbreaks, and resource exhaustion at relief centres.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57600"/>
            <a:ext cx="53035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/>
          <a:lstStyle/>
          <a:p>
            <a:pPr algn="ctr">
              <a:defRPr sz="1150" b="1">
                <a:solidFill>
                  <a:srgbClr val="10B981"/>
                </a:solidFill>
                <a:latin typeface="Calibri"/>
              </a:defRPr>
            </a:pPr>
            <a:r>
              <a:t>📋 3. Empowering SDMA, DDMA &amp; Incident Commanders with Action Orders</a:t>
            </a:r>
          </a:p>
          <a:p>
            <a:pPr>
              <a:defRPr sz="900">
                <a:solidFill>
                  <a:srgbClr val="0F172A"/>
                </a:solidFill>
                <a:latin typeface="Calibri"/>
              </a:defRPr>
            </a:pPr>
            <a:r>
              <a:t>Generates signed official relocation briefs, driver turn-by-turn routes, and automated SMS/Email alert dispatch to pre-configured disaster response officers.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846320"/>
            <a:ext cx="5303520" cy="1417320"/>
          </a:xfrm>
          <a:prstGeom prst="roundRect">
            <a:avLst/>
          </a:prstGeom>
          <a:solidFill>
            <a:srgbClr val="0E2537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/>
          <a:lstStyle/>
          <a:p>
            <a:pPr algn="ctr">
              <a:defRPr sz="1100" b="1">
                <a:solidFill>
                  <a:srgbClr val="0096D6"/>
                </a:solidFill>
                <a:latin typeface="Calibri"/>
              </a:defRPr>
            </a:pPr>
            <a:r>
              <a:t>📊 PROVED MEASURABLE OUTCOMES (Per Vulnerable District):</a:t>
            </a:r>
          </a:p>
          <a:p>
            <a:pPr>
              <a:defRPr sz="850">
                <a:solidFill>
                  <a:srgbClr val="FFFFFF"/>
                </a:solidFill>
                <a:latin typeface="Calibri"/>
              </a:defRPr>
            </a:pPr>
            <a:r>
              <a:t>• 0–48 Hours Evacuation Window: Immediate alerts for high-risk red-zone communities.</a:t>
            </a:r>
          </a:p>
          <a:p>
            <a:pPr>
              <a:defRPr sz="850">
                <a:solidFill>
                  <a:srgbClr val="FFFFFF"/>
                </a:solidFill>
                <a:latin typeface="Calibri"/>
              </a:defRPr>
            </a:pPr>
            <a:r>
              <a:t>• 85% Carrying Capacity Threshold: Triggers multi-site diversion to protect shelter safety.</a:t>
            </a:r>
          </a:p>
          <a:p>
            <a:pPr>
              <a:defRPr sz="850">
                <a:solidFill>
                  <a:srgbClr val="FFFFFF"/>
                </a:solidFill>
                <a:latin typeface="Calibri"/>
              </a:defRPr>
            </a:pPr>
            <a:r>
              <a:t>• 100% Open Data Transparency: Zero recurring software or mapping license burden.</a:t>
            </a:r>
          </a:p>
          <a:p>
            <a:pPr>
              <a:defRPr sz="850">
                <a:solidFill>
                  <a:srgbClr val="FFFFFF"/>
                </a:solidFill>
                <a:latin typeface="Calibri"/>
              </a:defRPr>
            </a:pPr>
            <a:r>
              <a:t>• 36 States &amp; UTs Pre-Indexed: Ready for instant pan-India adoption by NDRF / MHA.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280160"/>
            <a:ext cx="5486400" cy="2423160"/>
          </a:xfrm>
          <a:prstGeom prst="roundRect">
            <a:avLst/>
          </a:prstGeom>
          <a:solidFill>
            <a:srgbClr val="EAF2FA"/>
          </a:solidFill>
          <a:ln w="19050">
            <a:solidFill>
              <a:srgbClr val="388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200" b="1">
                <a:solidFill>
                  <a:srgbClr val="0096D6"/>
                </a:solidFill>
                <a:latin typeface="Calibri"/>
              </a:defRPr>
            </a:pPr>
            <a:r>
              <a:t>📷 [PLACE PHOTO HERE]</a:t>
            </a:r>
          </a:p>
          <a:p>
            <a:pPr algn="ctr">
              <a:defRPr sz="1100" b="1">
                <a:solidFill>
                  <a:srgbClr val="0A192F"/>
                </a:solidFill>
                <a:latin typeface="Calibri"/>
              </a:defRPr>
            </a:pPr>
            <a:r>
              <a:t>Recharts Live Analytics: 3-Tier Distribution &amp; 4-Hazard Profile</a:t>
            </a:r>
          </a:p>
          <a:p>
            <a:pPr algn="ctr">
              <a:defRPr sz="950">
                <a:solidFill>
                  <a:srgbClr val="64748B"/>
                </a:solidFill>
                <a:latin typeface="Calibri"/>
              </a:defRPr>
            </a:pPr>
            <a:r>
              <a:t>👉 Screenshot: Take screenshot of the Analytics page showing the 3-Tier Relocation Need Pie Chart, 4-Hazard Bar Chart, and Red Zone habitant KPI stats.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840480"/>
            <a:ext cx="5486400" cy="2423160"/>
          </a:xfrm>
          <a:prstGeom prst="roundRect">
            <a:avLst/>
          </a:prstGeom>
          <a:solidFill>
            <a:srgbClr val="EAF2FA"/>
          </a:solidFill>
          <a:ln w="19050">
            <a:solidFill>
              <a:srgbClr val="388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200" b="1">
                <a:solidFill>
                  <a:srgbClr val="0096D6"/>
                </a:solidFill>
                <a:latin typeface="Calibri"/>
              </a:defRPr>
            </a:pPr>
            <a:r>
              <a:t>📷 [PLACE PHOTO HERE]</a:t>
            </a:r>
          </a:p>
          <a:p>
            <a:pPr algn="ctr">
              <a:defRPr sz="1100" b="1">
                <a:solidFill>
                  <a:srgbClr val="0A192F"/>
                </a:solidFill>
                <a:latin typeface="Calibri"/>
              </a:defRPr>
            </a:pPr>
            <a:r>
              <a:t>Officer Alert Desk &amp; Dual-Tone Emergency Siren Tester</a:t>
            </a:r>
          </a:p>
          <a:p>
            <a:pPr algn="ctr">
              <a:defRPr sz="950">
                <a:solidFill>
                  <a:srgbClr val="64748B"/>
                </a:solidFill>
                <a:latin typeface="Calibri"/>
              </a:defRPr>
            </a:pPr>
            <a:r>
              <a:t>👉 Screenshot: Take screenshot of the Alerts page showing the 5 designated response officers (email/sms triggers) and the interactive 'TEST SIREN' button.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Calibri"/>
              </a:defRPr>
            </a:pPr>
            <a:r>
              <a:t>RESEARCH, PROJECT LINKS &amp; FUTURE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822960"/>
            <a:ext cx="1645920" cy="320040"/>
          </a:xfrm>
          <a:prstGeom prst="round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NOVACORE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28600"/>
            <a:ext cx="18288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0A192F"/>
                </a:solidFill>
                <a:latin typeface="Calibri"/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109167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Calibri"/>
              </a:defRPr>
            </a:pPr>
            <a:r>
              <a:t>@SIH Idea submission - Template | Slide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11091672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200" b="1">
                <a:solidFill>
                  <a:srgbClr val="0096D6"/>
                </a:solidFill>
                <a:latin typeface="Calibri"/>
              </a:defRPr>
            </a:pPr>
            <a:r>
              <a:t>📱 OFFICIAL PROJECT DELIVERABLES &amp; REPOSITORIES:</a:t>
            </a:r>
          </a:p>
          <a:p>
            <a:pPr>
              <a:defRPr sz="1000">
                <a:solidFill>
                  <a:srgbClr val="0F172A"/>
                </a:solidFill>
                <a:latin typeface="Calibri"/>
              </a:defRPr>
            </a:pPr>
            <a:r>
              <a:t>• GitHub Code Repository: https://github.com/vinitmishraaa/RAKSHASETU  |  Branch: main (Tested &amp; Verified)</a:t>
            </a:r>
          </a:p>
          <a:p>
            <a:pPr>
              <a:defRPr sz="1000">
                <a:solidFill>
                  <a:srgbClr val="0F172A"/>
                </a:solidFill>
                <a:latin typeface="Calibri"/>
              </a:defRPr>
            </a:pPr>
            <a:r>
              <a:t>• Local Command Center: http://localhost:5173  |  FastAPI Backend REST Endpoints: http://127.0.0.1:8000/docs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356616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/>
          <a:lstStyle/>
          <a:p>
            <a:pPr algn="ctr">
              <a:defRPr sz="1200" b="1">
                <a:solidFill>
                  <a:srgbClr val="0A192F"/>
                </a:solidFill>
                <a:latin typeface="Calibri"/>
              </a:defRPr>
            </a:pPr>
            <a:r>
              <a:t>🏛️ Official Government Sources</a:t>
            </a:r>
          </a:p>
          <a:p>
            <a:pPr>
              <a:defRPr sz="800">
                <a:solidFill>
                  <a:srgbClr val="64748B"/>
                </a:solidFill>
                <a:latin typeface="Calibri"/>
              </a:defRPr>
            </a:pPr>
            <a:r>
              <a:t>• Ministry of Home Affairs (MHA)</a:t>
            </a:r>
            <a:br/>
            <a:r>
              <a:t>  https://mha.gov.in</a:t>
            </a:r>
          </a:p>
          <a:p>
            <a:pPr>
              <a:defRPr sz="800">
                <a:solidFill>
                  <a:srgbClr val="64748B"/>
                </a:solidFill>
                <a:latin typeface="Calibri"/>
              </a:defRPr>
            </a:pPr>
            <a:r>
              <a:t>• National Disaster Response Force (NDRF)</a:t>
            </a:r>
            <a:br/>
            <a:r>
              <a:t>  https://ndrf.gov.in</a:t>
            </a:r>
          </a:p>
          <a:p>
            <a:pPr>
              <a:defRPr sz="800">
                <a:solidFill>
                  <a:srgbClr val="64748B"/>
                </a:solidFill>
                <a:latin typeface="Calibri"/>
              </a:defRPr>
            </a:pPr>
            <a:r>
              <a:t>• NDMA SACHET (CAP Early Warning)</a:t>
            </a:r>
            <a:br/>
            <a:r>
              <a:t>  https://sachet.ndma.gov.in</a:t>
            </a:r>
          </a:p>
          <a:p>
            <a:pPr>
              <a:defRPr sz="800">
                <a:solidFill>
                  <a:srgbClr val="64748B"/>
                </a:solidFill>
                <a:latin typeface="Calibri"/>
              </a:defRPr>
            </a:pPr>
            <a:r>
              <a:t>• India Meteorological Department (IMD)</a:t>
            </a:r>
            <a:br/>
            <a:r>
              <a:t>  https://mausam.imd.gov.in</a:t>
            </a:r>
          </a:p>
          <a:p>
            <a:pPr>
              <a:defRPr sz="800">
                <a:solidFill>
                  <a:srgbClr val="64748B"/>
                </a:solidFill>
                <a:latin typeface="Calibri"/>
              </a:defRPr>
            </a:pPr>
            <a:r>
              <a:t>• Geological Survey of India (GSI - Landslides)</a:t>
            </a:r>
            <a:br/>
            <a:r>
              <a:t>  https://gsi.gov.in</a:t>
            </a:r>
          </a:p>
          <a:p>
            <a:pPr>
              <a:defRPr sz="800">
                <a:solidFill>
                  <a:srgbClr val="64748B"/>
                </a:solidFill>
                <a:latin typeface="Calibri"/>
              </a:defRPr>
            </a:pPr>
            <a:r>
              <a:t>• Central Water Commission (CWC - Floods)</a:t>
            </a:r>
            <a:br/>
            <a:r>
              <a:t>  https://cwc.gov.in</a:t>
            </a:r>
          </a:p>
          <a:p>
            <a:pPr>
              <a:defRPr sz="800">
                <a:solidFill>
                  <a:srgbClr val="64748B"/>
                </a:solidFill>
                <a:latin typeface="Calibri"/>
              </a:defRPr>
            </a:pPr>
            <a:r>
              <a:t>• Census of India (Village Demographics)</a:t>
            </a:r>
            <a:br/>
            <a:r>
              <a:t>  https://censusindia.gov.in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240280"/>
            <a:ext cx="356616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/>
          <a:lstStyle/>
          <a:p>
            <a:pPr algn="ctr">
              <a:defRPr sz="1200" b="1">
                <a:solidFill>
                  <a:srgbClr val="0096D6"/>
                </a:solidFill>
                <a:latin typeface="Calibri"/>
              </a:defRPr>
            </a:pPr>
            <a:r>
              <a:t>🌐 Open Technical Data Sources</a:t>
            </a:r>
          </a:p>
          <a:p>
            <a:pPr>
              <a:defRPr sz="800">
                <a:solidFill>
                  <a:srgbClr val="64748B"/>
                </a:solidFill>
                <a:latin typeface="Calibri"/>
              </a:defRPr>
            </a:pPr>
            <a:r>
              <a:t>• Open-Meteo API (Live Weather &amp; Wind)</a:t>
            </a:r>
            <a:br/>
            <a:r>
              <a:t>  https://open-meteo.com</a:t>
            </a:r>
          </a:p>
          <a:p>
            <a:pPr>
              <a:defRPr sz="800">
                <a:solidFill>
                  <a:srgbClr val="64748B"/>
                </a:solidFill>
                <a:latin typeface="Calibri"/>
              </a:defRPr>
            </a:pPr>
            <a:r>
              <a:t>• USGS Seismology (Earthquake Hypocenters)</a:t>
            </a:r>
            <a:br/>
            <a:r>
              <a:t>  https://earthquake.usgs.gov</a:t>
            </a:r>
          </a:p>
          <a:p>
            <a:pPr>
              <a:defRPr sz="800">
                <a:solidFill>
                  <a:srgbClr val="64748B"/>
                </a:solidFill>
                <a:latin typeface="Calibri"/>
              </a:defRPr>
            </a:pPr>
            <a:r>
              <a:t>• OpenStreetMap (Roads &amp; Critical Buildings)</a:t>
            </a:r>
            <a:br/>
            <a:r>
              <a:t>  https://openstreetmap.org</a:t>
            </a:r>
          </a:p>
          <a:p>
            <a:pPr>
              <a:defRPr sz="800">
                <a:solidFill>
                  <a:srgbClr val="64748B"/>
                </a:solidFill>
                <a:latin typeface="Calibri"/>
              </a:defRPr>
            </a:pPr>
            <a:r>
              <a:t>• OSRM Project (Road Routing Engine)</a:t>
            </a:r>
            <a:br/>
            <a:r>
              <a:t>  http://project-osrm.org</a:t>
            </a:r>
          </a:p>
          <a:p>
            <a:pPr>
              <a:defRPr sz="800">
                <a:solidFill>
                  <a:srgbClr val="64748B"/>
                </a:solidFill>
                <a:latin typeface="Calibri"/>
              </a:defRPr>
            </a:pPr>
            <a:r>
              <a:t>• GDACS (Global Disaster Alert &amp; Coordination)</a:t>
            </a:r>
            <a:br/>
            <a:r>
              <a:t>  https://gdacs.org</a:t>
            </a:r>
          </a:p>
          <a:p>
            <a:pPr>
              <a:defRPr sz="800">
                <a:solidFill>
                  <a:srgbClr val="64748B"/>
                </a:solidFill>
                <a:latin typeface="Calibri"/>
              </a:defRPr>
            </a:pPr>
            <a:r>
              <a:t>• NASA GIBS (Satellite True-Color Imagery)</a:t>
            </a:r>
            <a:br/>
            <a:r>
              <a:t>  https://earthdata.nasa.gov</a:t>
            </a:r>
          </a:p>
          <a:p>
            <a:pPr>
              <a:defRPr sz="800">
                <a:solidFill>
                  <a:srgbClr val="64748B"/>
                </a:solidFill>
                <a:latin typeface="Calibri"/>
              </a:defRPr>
            </a:pPr>
            <a:r>
              <a:t>• Leaflet.js &amp; Recharts (Visualization)</a:t>
            </a:r>
            <a:br/>
            <a:r>
              <a:t>  https://leafletjs.com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240280"/>
            <a:ext cx="356616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54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/>
          <a:lstStyle/>
          <a:p>
            <a:pPr algn="ctr">
              <a:defRPr sz="1200" b="1">
                <a:solidFill>
                  <a:srgbClr val="E5484D"/>
                </a:solidFill>
                <a:latin typeface="Calibri"/>
              </a:defRPr>
            </a:pPr>
            <a:r>
              <a:t>📚 Research &amp; Standards</a:t>
            </a:r>
          </a:p>
          <a:p>
            <a:pPr>
              <a:defRPr sz="800">
                <a:solidFill>
                  <a:srgbClr val="64748B"/>
                </a:solidFill>
                <a:latin typeface="Calibri"/>
              </a:defRPr>
            </a:pPr>
            <a:r>
              <a:t>• UNDRR Sendai Framework 2015–2030</a:t>
            </a:r>
            <a:br/>
            <a:r>
              <a:t>  Target 4: Disaster Resilient Infrastructure</a:t>
            </a:r>
          </a:p>
          <a:p>
            <a:pPr>
              <a:defRPr sz="800">
                <a:solidFill>
                  <a:srgbClr val="64748B"/>
                </a:solidFill>
                <a:latin typeface="Calibri"/>
              </a:defRPr>
            </a:pPr>
            <a:r>
              <a:t>• IPCC AR6 Vulnerability Guidelines</a:t>
            </a:r>
            <a:br/>
            <a:r>
              <a:t>  Climate-induced resettlement standards</a:t>
            </a:r>
          </a:p>
          <a:p>
            <a:pPr>
              <a:defRPr sz="800">
                <a:solidFill>
                  <a:srgbClr val="64748B"/>
                </a:solidFill>
                <a:latin typeface="Calibri"/>
              </a:defRPr>
            </a:pPr>
            <a:r>
              <a:t>• Smart India Hackathon 2026 Portal</a:t>
            </a:r>
            <a:br/>
            <a:r>
              <a:t>  Problem Statement ID: SIH26191</a:t>
            </a:r>
          </a:p>
          <a:p>
            <a:pPr>
              <a:defRPr sz="800">
                <a:solidFill>
                  <a:srgbClr val="64748B"/>
                </a:solidFill>
                <a:latin typeface="Calibri"/>
              </a:defRPr>
            </a:pPr>
            <a:r>
              <a:t>• NDMA SOP on Disaster Relocation</a:t>
            </a:r>
            <a:br/>
            <a:r>
              <a:t>  Standard capacity allocations per person</a:t>
            </a:r>
          </a:p>
          <a:p>
            <a:pPr>
              <a:defRPr sz="800">
                <a:solidFill>
                  <a:srgbClr val="64748B"/>
                </a:solidFill>
                <a:latin typeface="Calibri"/>
              </a:defRPr>
            </a:pPr>
            <a:r>
              <a:t>• Team NOVACORE Research Paper</a:t>
            </a:r>
            <a:br/>
            <a:r>
              <a:t>  Proactive GIS Carrying Capacity Models</a:t>
            </a:r>
          </a:p>
          <a:p>
            <a:pPr>
              <a:defRPr sz="800">
                <a:solidFill>
                  <a:srgbClr val="64748B"/>
                </a:solidFill>
                <a:latin typeface="Calibri"/>
              </a:defRPr>
            </a:pPr>
            <a:r>
              <a:t>• Open Source MIT License</a:t>
            </a:r>
            <a:br/>
            <a:r>
              <a:t>  Fully libre software for public good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486400"/>
            <a:ext cx="11091672" cy="8686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050" b="1">
                <a:solidFill>
                  <a:srgbClr val="0A192F"/>
                </a:solidFill>
                <a:latin typeface="Calibri"/>
              </a:defRPr>
            </a:pPr>
            <a:r>
              <a:t>🌟 HOW THESE SCIENTIFIC &amp; TECHNICAL REFERENCES VALIDATE RAKSHASETU:</a:t>
            </a:r>
          </a:p>
          <a:p>
            <a:pPr>
              <a:defRPr sz="850">
                <a:solidFill>
                  <a:srgbClr val="0F172A"/>
                </a:solidFill>
                <a:latin typeface="Calibri"/>
              </a:defRPr>
            </a:pPr>
            <a:r>
              <a:t>✅ Reliable Open Data: Official government and live sensor feeds ensure real-time hazard detection without manual delay.</a:t>
            </a:r>
            <a:br/>
            <a:r>
              <a:t>✅ Proven Mathematical Methodology: 3-Pillar risk formula and carrying capacity headroom calculations ensure zero subjective bias.</a:t>
            </a:r>
            <a:br/>
            <a:r>
              <a:t>✅ Immediate Administrative Adoption: Structured to fit directly into SDMA / DDMA standard operating procedures for MHA / NDRF.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