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-403" y="-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800" b="1" u="sng" dirty="0">
                <a:latin typeface="Times New Roman" pitchFamily="18" charset="0"/>
                <a:cs typeface="Times New Roman" pitchFamily="18" charset="0"/>
              </a:rPr>
              <a:t>SMART INDIA HACKATHON </a:t>
            </a:r>
            <a:r>
              <a:rPr lang="en-US" sz="3800" b="1" u="sng" dirty="0" smtClean="0">
                <a:latin typeface="Times New Roman" pitchFamily="18" charset="0"/>
                <a:cs typeface="Times New Roman" pitchFamily="18" charset="0"/>
              </a:rPr>
              <a:t>2026</a:t>
            </a:r>
            <a:endParaRPr lang="en-IN" sz="38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8145" y="1773550"/>
            <a:ext cx="6426505" cy="485004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spcAft>
                <a:spcPts val="1000"/>
              </a:spcAft>
              <a:buFont typeface="Arial" pitchFamily="34" charset="0"/>
              <a:buChar char="•"/>
            </a:pPr>
            <a:r>
              <a:rPr sz="1600" b="1">
                <a:solidFill>
                  <a:srgbClr val="0F172A"/>
                </a:solidFill>
                <a:latin typeface="Calibri"/>
              </a:rPr>
              <a:t>• Problem Statement ID – </a:t>
            </a:r>
            <a:r>
              <a:rPr sz="1600" b="1">
                <a:solidFill>
                  <a:srgbClr val="0082C8"/>
                </a:solidFill>
                <a:latin typeface="Calibri"/>
              </a:rPr>
              <a:t>SIH26191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Problem Statement Title – </a:t>
            </a:r>
            <a:r>
              <a:rPr sz="1600" b="1">
                <a:solidFill>
                  <a:srgbClr val="0F172A"/>
                </a:solidFill>
                <a:latin typeface="Calibri"/>
              </a:rPr>
              <a:t>Intelligent Identification of Hazard-Based Red Zones, Carrying Capacity Assessment, and Immediate Relocation Needs for Vulnerable Habitations.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Theme – </a:t>
            </a:r>
            <a:r>
              <a:rPr sz="1600" b="0">
                <a:solidFill>
                  <a:srgbClr val="0F172A"/>
                </a:solidFill>
                <a:latin typeface="Calibri"/>
              </a:rPr>
              <a:t>Disaster Management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PS Category – </a:t>
            </a:r>
            <a:r>
              <a:rPr sz="1600" b="0">
                <a:solidFill>
                  <a:srgbClr val="0F172A"/>
                </a:solidFill>
                <a:latin typeface="Calibri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Team ID – </a:t>
            </a:r>
            <a:r>
              <a:rPr sz="1600" b="1">
                <a:solidFill>
                  <a:srgbClr val="0082C8"/>
                </a:solidFill>
                <a:latin typeface="Calibri"/>
              </a:rPr>
              <a:t>170297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• Team Name – </a:t>
            </a:r>
            <a:r>
              <a:rPr sz="1600" b="1">
                <a:solidFill>
                  <a:srgbClr val="0082C8"/>
                </a:solidFill>
                <a:latin typeface="Calibri"/>
              </a:rPr>
              <a:t>NOVACORE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98" y="67555"/>
            <a:ext cx="1102877" cy="11028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PROPOSED SOLUTION: RAKSHASETU (Smart Disaster Intelligence)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98" y="67555"/>
            <a:ext cx="1102877" cy="110287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082C8"/>
                </a:solidFill>
                <a:latin typeface="Calibri"/>
              </a:defRPr>
            </a:pPr>
            <a:r>
              <a:t>RAKSHASETU — AI-Powered Hazard-Zone, Vulnerability &amp; Relocation Intelligence Platform  |  GitHub: https://github.com/vinitmishraaa/RAKSHASETU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548640" y="146304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E5484D"/>
                </a:solidFill>
                <a:latin typeface="Calibri"/>
              </a:defRPr>
            </a:pPr>
            <a:r>
              <a:t>🔴 1. Dynamic Hazard-Based Red-Zone Delineation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 Identifies zones Unsuitable for Permanent Habitation dynamically via live sensor feeds.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 4 PS Hazards Modeled: Floods, Landslides, Coastal Erosion, and Cloudbursts.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 GIS Animated Blowout Rings: Pulsating radar perimeters pinpoint threat severity.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48640" y="306324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0082C8"/>
                </a:solidFill>
                <a:latin typeface="Calibri"/>
              </a:defRPr>
            </a:pPr>
            <a:r>
              <a:t>⏱️ 2. 3-Tier Relocation Need Prioritization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 🔴 Immediate (0–48 Hours): Rapid tactical evacuation for acute life-threats.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 🟠 Short-Term (1–3 Months): Pre-monsoon planned relocation before floods/slides.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 🟡 Medium-Term (6–12 Months): Sustainable rehabilitation &amp; permanent housing.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48640" y="466344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🏢 3. Carrying Capacity Assessment &amp; Overcrowding Mitigation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 Evaluates Total Capacity, Pre-Occupancy, and Net Absorption Headroom.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 Automated Multi-Site Split: Prevents secondary disaster outbreak when stress &gt;85%.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 100% Zero Operating Cost: Built completely on open-source APIs (Open-Meteo, USGS, OSM).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6126480" y="1463040"/>
            <a:ext cx="5486400" cy="777240"/>
          </a:xfrm>
          <a:prstGeom prst="roundRect">
            <a:avLst/>
          </a:prstGeom>
          <a:solidFill>
            <a:srgbClr val="0E2537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50" b="1">
                <a:solidFill>
                  <a:srgbClr val="0082C8"/>
                </a:solidFill>
                <a:latin typeface="Calibri"/>
              </a:defRPr>
            </a:pPr>
            <a:r>
              <a:t>📱 PROJECT LINKS &amp; REPOSITORIES (Click to Open):</a:t>
            </a:r>
          </a:p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• GitHub Code Repository: https://github.com/vinitmishraaa/RAKSHASETU</a:t>
            </a:r>
          </a:p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• Live Web Dashboard: http://localhost:5173  |  FastAPI Docs: /docs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126480" y="2331720"/>
            <a:ext cx="5486400" cy="196596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150" b="1">
                <a:solidFill>
                  <a:srgbClr val="0082C8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050" b="1">
                <a:solidFill>
                  <a:srgbClr val="0A192F"/>
                </a:solidFill>
                <a:latin typeface="Calibri"/>
              </a:defRPr>
            </a:pPr>
            <a:r>
              <a:t>Main Dashboard: Multi-Hazard Red-Zone GIS Map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👉 Screenshot from http://localhost:5173 with State='West Bengal' and Red Zones filter ON.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126480" y="4389120"/>
            <a:ext cx="5486400" cy="178308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150" b="1">
                <a:solidFill>
                  <a:srgbClr val="0082C8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050" b="1">
                <a:solidFill>
                  <a:srgbClr val="0A192F"/>
                </a:solidFill>
                <a:latin typeface="Calibri"/>
              </a:defRPr>
            </a:pPr>
            <a:r>
              <a:t>Carrying Capacity Assessment &amp; Stress Gauge Card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👉 Screenshot from Relocation page showing capacity progress bar, stress %, and headroom.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TECHNICAL APPROACH: End-to-End System Workflow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98" y="67555"/>
            <a:ext cx="1142120" cy="1142120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18872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050" b="1">
                <a:solidFill>
                  <a:srgbClr val="0A192F"/>
                </a:solidFill>
                <a:latin typeface="Calibri"/>
              </a:defRPr>
            </a:pPr>
            <a:r>
              <a:t>Step 1: Telemetry</a:t>
            </a:r>
          </a:p>
          <a:p>
            <a:pPr>
              <a:defRPr sz="800">
                <a:solidFill>
                  <a:srgbClr val="0F172A"/>
                </a:solidFill>
                <a:latin typeface="Calibri"/>
              </a:defRPr>
            </a:pPr>
            <a:r>
              <a:t>Live Open Data</a:t>
            </a:r>
            <a:br/>
            <a:r>
              <a:t>• Open-Meteo Weather</a:t>
            </a:r>
            <a:br/>
            <a:r>
              <a:t>• USGS Earthquakes</a:t>
            </a:r>
            <a:br/>
            <a:r>
              <a:t>• NDMA SACHET CAP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788920" y="118872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050" b="1">
                <a:solidFill>
                  <a:srgbClr val="0A192F"/>
                </a:solidFill>
                <a:latin typeface="Calibri"/>
              </a:defRPr>
            </a:pPr>
            <a:r>
              <a:t>Step 2: Risk Engine</a:t>
            </a:r>
          </a:p>
          <a:p>
            <a:pPr>
              <a:defRPr sz="800">
                <a:solidFill>
                  <a:srgbClr val="0F172A"/>
                </a:solidFill>
                <a:latin typeface="Calibri"/>
              </a:defRPr>
            </a:pPr>
            <a:r>
              <a:t>3-Pillar Formula</a:t>
            </a:r>
            <a:br/>
            <a:r>
              <a:t>• Hazard Intensity (40%)</a:t>
            </a:r>
            <a:br/>
            <a:r>
              <a:t>• Vulnerability (35%)</a:t>
            </a:r>
            <a:br/>
            <a:r>
              <a:t>• Disaster History (25%)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0" y="118872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050" b="1">
                <a:solidFill>
                  <a:srgbClr val="0A192F"/>
                </a:solidFill>
                <a:latin typeface="Calibri"/>
              </a:defRPr>
            </a:pPr>
            <a:r>
              <a:t>Step 3: Red Zones</a:t>
            </a:r>
          </a:p>
          <a:p>
            <a:pPr>
              <a:defRPr sz="800">
                <a:solidFill>
                  <a:srgbClr val="0F172A"/>
                </a:solidFill>
                <a:latin typeface="Calibri"/>
              </a:defRPr>
            </a:pPr>
            <a:r>
              <a:t>Red-Zone Delineation</a:t>
            </a:r>
            <a:br/>
            <a:r>
              <a:t>• Multi-hazard unsuitability</a:t>
            </a:r>
            <a:br/>
            <a:r>
              <a:t>• 4 Hazards: Flood, Slide,</a:t>
            </a:r>
            <a:br/>
            <a:r>
              <a:t>  Erosion, Cloudburst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269480" y="118872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050" b="1">
                <a:solidFill>
                  <a:srgbClr val="0A192F"/>
                </a:solidFill>
                <a:latin typeface="Calibri"/>
              </a:defRPr>
            </a:pPr>
            <a:r>
              <a:t>Step 4: Safe Sites</a:t>
            </a:r>
          </a:p>
          <a:p>
            <a:pPr>
              <a:defRPr sz="800">
                <a:solidFill>
                  <a:srgbClr val="0F172A"/>
                </a:solidFill>
                <a:latin typeface="Calibri"/>
              </a:defRPr>
            </a:pPr>
            <a:r>
              <a:t>Capacity Assessment</a:t>
            </a:r>
            <a:br/>
            <a:r>
              <a:t>• Headroom &amp; stress %</a:t>
            </a:r>
            <a:br/>
            <a:r>
              <a:t>• Overcrowding split</a:t>
            </a:r>
            <a:br/>
            <a:r>
              <a:t>• OSRM road routing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9509760" y="1188720"/>
            <a:ext cx="21031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050" b="1">
                <a:solidFill>
                  <a:srgbClr val="0A192F"/>
                </a:solidFill>
                <a:latin typeface="Calibri"/>
              </a:defRPr>
            </a:pPr>
            <a:r>
              <a:t>Step 5: Action</a:t>
            </a:r>
          </a:p>
          <a:p>
            <a:pPr>
              <a:defRPr sz="800">
                <a:solidFill>
                  <a:srgbClr val="0F172A"/>
                </a:solidFill>
                <a:latin typeface="Calibri"/>
              </a:defRPr>
            </a:pPr>
            <a:r>
              <a:t>SDMA Action Corridor</a:t>
            </a:r>
            <a:br/>
            <a:r>
              <a:t>• 4-Step guided flow</a:t>
            </a:r>
            <a:br/>
            <a:r>
              <a:t>• Google Maps driving</a:t>
            </a:r>
            <a:br/>
            <a:r>
              <a:t>• 🖨️ Printable order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48640" y="2606040"/>
            <a:ext cx="53035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200" b="1">
                <a:solidFill>
                  <a:srgbClr val="0A192F"/>
                </a:solidFill>
                <a:latin typeface="Calibri"/>
              </a:defRPr>
            </a:pPr>
            <a:r>
              <a:t>💻 TECHNOLOGY STACK &amp; SMART FEATURES: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• Frontend: React 18, TypeScript, Vite, Leaflet.js, Recharts, Custom Glassmorphism UI.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• Backend: Python 3.12, FastAPI, In-Memory Administrative Directory (36 States/UTs).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• Road Network Routing: Open Source Routing Machine (OSRM) driving route geometry &amp; live ETA.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• 3-Pillar Risk Engine: 40% Hazard Intensity + 35% Vulnerability + 25% Disaster History Recurrence.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• Carrying Capacity Engine: Dynamic absorption headroom gauge &amp; automated split allocation.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• SDMA Decision Suite: 4-Step evacuation corridor, Google Maps mobile handoff, printable order brief.</a:t>
            </a:r>
          </a:p>
          <a:p>
            <a:pPr>
              <a:defRPr sz="900">
                <a:solidFill>
                  <a:srgbClr val="0F172A"/>
                </a:solidFill>
                <a:latin typeface="Calibri"/>
              </a:defRPr>
            </a:pPr>
            <a:r>
              <a:t>• GitHub Code Link: https://github.com/vinitmishraaa/RAKSHASETU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26480" y="2606040"/>
            <a:ext cx="5486400" cy="173736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150" b="1">
                <a:solidFill>
                  <a:srgbClr val="0082C8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050" b="1">
                <a:solidFill>
                  <a:srgbClr val="0A192F"/>
                </a:solidFill>
                <a:latin typeface="Calibri"/>
              </a:defRPr>
            </a:pPr>
            <a:r>
              <a:t>4-Step Guided Official Relocation Corridor &amp; Road Route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👉 Screenshot from Relocation page showing 4 steps, OSRM road distance, ETA, and turn-by-turn guidance.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26480" y="4434840"/>
            <a:ext cx="5486400" cy="178308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150" b="1">
                <a:solidFill>
                  <a:srgbClr val="0082C8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050" b="1">
                <a:solidFill>
                  <a:srgbClr val="0A192F"/>
                </a:solidFill>
                <a:latin typeface="Calibri"/>
              </a:defRPr>
            </a:pPr>
            <a:r>
              <a:t>Official SDMA Relocation Order Print Preview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👉 Screenshot of the print dialog after clicking 'Export / Print Official SDMA Relocation Order'.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FEASIBILITY &amp; VIABILITY: Operational &amp; Comparative Assessment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98" y="0"/>
            <a:ext cx="1142120" cy="1142120"/>
          </a:xfrm>
          <a:prstGeom prst="rect">
            <a:avLst/>
          </a:prstGeom>
        </p:spPr>
      </p:pic>
      <p:graphicFrame>
        <p:nvGraphicFramePr>
          <p:cNvPr id="17410" name="Table 17409"/>
          <p:cNvGraphicFramePr>
            <a:graphicFrameLocks noGrp="1"/>
          </p:cNvGraphicFramePr>
          <p:nvPr/>
        </p:nvGraphicFramePr>
        <p:xfrm>
          <a:off x="548640" y="1188720"/>
          <a:ext cx="6400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37360"/>
                <a:gridCol w="1920240"/>
                <a:gridCol w="1371600"/>
              </a:tblGrid>
              <a:tr h="5181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 Dimension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Reactive Method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RakshaSetu Proactive AI-GIS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Advantage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Response Timing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Post-disaster rescue (Panic &amp; delay)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Proactive pre-disaster tiers (0-48h, 1-3m, 6-12m)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Zero panic &amp; loss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Hazard Delineation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Manual, localized post-event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Dynamic GIS Multi-Hazard Red-Zone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High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Safe Site Allocation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Ad-hoc intake (Severe overcrowding)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Carrying capacity headroom stress % 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Prevents stampede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Evacuation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Unverified paths (often blocked)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OSRM real road network &amp; Google Maps handoff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Guaranteed 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Financial Cost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Expensive proprietary GIS licenses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100% Open-source zero-key architecture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₹0 Software Bills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7411" name="Rounded Rectangle 17410"/>
          <p:cNvSpPr/>
          <p:nvPr/>
        </p:nvSpPr>
        <p:spPr>
          <a:xfrm>
            <a:off x="548640" y="4434840"/>
            <a:ext cx="640080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🎯 3 REASONS WHY RAKSHASETU IS 100% FEASIBLE &amp; VIABLE: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 Zero Key Operating Cost: Relies on public Open-Meteo, USGS, NDMA CAP and OpenStreetMap with no cloud bills.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 Deterministic &amp; Explainable AI: Formulated on clear mathematical equations (40% Hazard, 35% Vulnerability, 25% History) avoiding black-box errors.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 Pan-India Immediate Deployment: All 28 States and 8 UTs pre-indexed; instantly scalable to every SDMA and DDMA.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132320" y="1188720"/>
            <a:ext cx="4480560" cy="242316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150" b="1">
                <a:solidFill>
                  <a:srgbClr val="0082C8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050" b="1">
                <a:solidFill>
                  <a:srgbClr val="0A192F"/>
                </a:solidFill>
                <a:latin typeface="Calibri"/>
              </a:defRPr>
            </a:pPr>
            <a:r>
              <a:t>Safe Sites Infrastructure &amp; Headroom Stress Meter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👉 Screenshot from Safe Sites page (/safe-sites) showing shelter cards with capacity, occupancy, and headroom.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132320" y="3703320"/>
            <a:ext cx="4480560" cy="251460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150" b="1">
                <a:solidFill>
                  <a:srgbClr val="0082C8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050" b="1">
                <a:solidFill>
                  <a:srgbClr val="0A192F"/>
                </a:solidFill>
                <a:latin typeface="Calibri"/>
              </a:defRPr>
            </a:pPr>
            <a:r>
              <a:t>Multi-Site Split Allocation to Prevent Overcrowding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👉 Screenshot showing Relocation page recommendation when high population is allocated safely across shelters.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IMPACT &amp; BENEFITS: Saving Lives, Preventing Overcrowding &amp; Empowering SDMA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98" y="67555"/>
            <a:ext cx="1142120" cy="1142120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188720"/>
            <a:ext cx="5303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100" b="1">
                <a:solidFill>
                  <a:srgbClr val="E5484D"/>
                </a:solidFill>
                <a:latin typeface="Calibri"/>
              </a:defRPr>
            </a:pPr>
            <a:r>
              <a:t>🛡️ 1. Life &amp; Infrastructure Protection (Shifting Reactive to Proactive)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Eliminates repeated loss of life and property in perennial flood, landslide, erosion, and cloudburst belts by moving vulnerable habitations BEFORE disaster strikes.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2377440"/>
            <a:ext cx="5303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100" b="1">
                <a:solidFill>
                  <a:srgbClr val="0082C8"/>
                </a:solidFill>
                <a:latin typeface="Calibri"/>
              </a:defRPr>
            </a:pPr>
            <a:r>
              <a:t>🏢 2. Prevention of Secondary Disasters &amp; Post-Evacuation Overcrowding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Mathematical carrying capacity assessment caps intake at safe thresholds, preventing sanitation collapse, epidemic outbreaks, and resource exhaustion at relief centres.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3566160"/>
            <a:ext cx="5303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📋 3. Empowering SDMA, DDMA &amp; Incident Commanders with Action Orders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Generates signed official relocation briefs, driver turn-by-turn routes, and automated SMS/Email alert dispatch to pre-configured disaster response officers.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4754880"/>
            <a:ext cx="5303520" cy="1463040"/>
          </a:xfrm>
          <a:prstGeom prst="roundRect">
            <a:avLst/>
          </a:prstGeom>
          <a:solidFill>
            <a:srgbClr val="0E2537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050" b="1">
                <a:solidFill>
                  <a:srgbClr val="0082C8"/>
                </a:solidFill>
                <a:latin typeface="Calibri"/>
              </a:defRPr>
            </a:pPr>
            <a:r>
              <a:t>📊 PROVED MEASURABLE OUTCOMES (Per Vulnerable District):</a:t>
            </a:r>
          </a:p>
          <a:p>
            <a:pPr>
              <a:defRPr sz="800">
                <a:solidFill>
                  <a:srgbClr val="FFFFFF"/>
                </a:solidFill>
                <a:latin typeface="Calibri"/>
              </a:defRPr>
            </a:pPr>
            <a:r>
              <a:t>• 0–48 Hours Evacuation Window: Immediate alerts for high-risk red-zone communities.</a:t>
            </a:r>
          </a:p>
          <a:p>
            <a:pPr>
              <a:defRPr sz="800">
                <a:solidFill>
                  <a:srgbClr val="FFFFFF"/>
                </a:solidFill>
                <a:latin typeface="Calibri"/>
              </a:defRPr>
            </a:pPr>
            <a:r>
              <a:t>• 85% Carrying Capacity Threshold: Triggers multi-site diversion to protect shelter safety.</a:t>
            </a:r>
          </a:p>
          <a:p>
            <a:pPr>
              <a:defRPr sz="800">
                <a:solidFill>
                  <a:srgbClr val="FFFFFF"/>
                </a:solidFill>
                <a:latin typeface="Calibri"/>
              </a:defRPr>
            </a:pPr>
            <a:r>
              <a:t>• 100% Open Data Transparency: Zero recurring software or mapping license burden.</a:t>
            </a:r>
          </a:p>
          <a:p>
            <a:pPr>
              <a:defRPr sz="800">
                <a:solidFill>
                  <a:srgbClr val="FFFFFF"/>
                </a:solidFill>
                <a:latin typeface="Calibri"/>
              </a:defRPr>
            </a:pPr>
            <a:r>
              <a:t>• 36 States &amp; UTs Pre-Indexed: Ready for instant pan-India adoption by NDRF / MHA.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26480" y="1188720"/>
            <a:ext cx="5486400" cy="242316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150" b="1">
                <a:solidFill>
                  <a:srgbClr val="0082C8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050" b="1">
                <a:solidFill>
                  <a:srgbClr val="0A192F"/>
                </a:solidFill>
                <a:latin typeface="Calibri"/>
              </a:defRPr>
            </a:pPr>
            <a:r>
              <a:t>Recharts Live Analytics: 3-Tier Distribution &amp; 4-Hazard Profile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👉 Screenshot from Analytics page (/analytics) showing 3-Tier Pie Chart and 4-Hazard Bar Chart.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26480" y="3749039"/>
            <a:ext cx="5486400" cy="246888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150" b="1">
                <a:solidFill>
                  <a:srgbClr val="0082C8"/>
                </a:solidFill>
                <a:latin typeface="Calibri"/>
              </a:defRPr>
            </a:pPr>
            <a:r>
              <a:t>📷 [PLACE PHOTO HERE]</a:t>
            </a:r>
          </a:p>
          <a:p>
            <a:pPr algn="ctr">
              <a:defRPr sz="1050" b="1">
                <a:solidFill>
                  <a:srgbClr val="0A192F"/>
                </a:solidFill>
                <a:latin typeface="Calibri"/>
              </a:defRPr>
            </a:pPr>
            <a:r>
              <a:t>Officer Alert Desk &amp; Dual-Tone Emergency Siren Tester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👉 Screenshot from Alerts page (/alerts) showing 5 response officers with Email/SMS dispatch and siren tester.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RESEARCH, PROJECT LINKS &amp; FUTURE ROADMAP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98" y="67555"/>
            <a:ext cx="1142120" cy="1142120"/>
          </a:xfrm>
          <a:prstGeom prst="rect">
            <a:avLst/>
          </a:prstGeom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98" y="37091"/>
            <a:ext cx="970684" cy="916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548640" y="1188720"/>
            <a:ext cx="1109167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0082C8"/>
                </a:solidFill>
                <a:latin typeface="Calibri"/>
              </a:defRPr>
            </a:pPr>
            <a:r>
              <a:t>📱 OFFICIAL PROJECT DELIVERABLES &amp; REPOSITORIES: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GitHub Code Repository: https://github.com/vinitmishraaa/RAKSHASETU  |  Branch: main (Tested &amp; Verified)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Local Command Center: http://localhost:5173  |  FastAPI Backend REST Endpoints: http://127.0.0.1:8000/docs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2103120"/>
            <a:ext cx="3566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1100" b="1">
                <a:solidFill>
                  <a:srgbClr val="0A192F"/>
                </a:solidFill>
                <a:latin typeface="Calibri"/>
              </a:defRPr>
            </a:pPr>
            <a:r>
              <a:t>🏛️ Official Government Sources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Ministry of Home Affairs (MHA)</a:t>
            </a:r>
            <a:br/>
            <a:r>
              <a:t>  https://mha.gov.in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National Disaster Response Force (NDRF)</a:t>
            </a:r>
            <a:br/>
            <a:r>
              <a:t>  https://ndrf.gov.in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NDMA SACHET (CAP Early Warning)</a:t>
            </a:r>
            <a:br/>
            <a:r>
              <a:t>  https://sachet.ndma.gov.in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India Meteorological Department (IMD)</a:t>
            </a:r>
            <a:br/>
            <a:r>
              <a:t>  https://mausam.imd.gov.in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Geological Survey of India (GSI - Landslides)</a:t>
            </a:r>
            <a:br/>
            <a:r>
              <a:t>  https://gsi.gov.in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Central Water Commission (CWC - Floods)</a:t>
            </a:r>
            <a:br/>
            <a:r>
              <a:t>  https://cwc.gov.in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Census of India (Village Demographics)</a:t>
            </a:r>
            <a:br/>
            <a:r>
              <a:t>  https://censusindia.gov.in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97680" y="2103120"/>
            <a:ext cx="3566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00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1100" b="1">
                <a:solidFill>
                  <a:srgbClr val="0082C8"/>
                </a:solidFill>
                <a:latin typeface="Calibri"/>
              </a:defRPr>
            </a:pPr>
            <a:r>
              <a:t>🌐 Open Technical Data Sources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Open-Meteo API (Live Weather &amp; Wind)</a:t>
            </a:r>
            <a:br/>
            <a:r>
              <a:t>  https://open-meteo.com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USGS Seismology (Earthquake Hypocenters)</a:t>
            </a:r>
            <a:br/>
            <a:r>
              <a:t>  https://earthquake.usgs.gov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OpenStreetMap (Roads &amp; Critical Buildings)</a:t>
            </a:r>
            <a:br/>
            <a:r>
              <a:t>  https://openstreetmap.org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OSRM Project (Road Routing Engine)</a:t>
            </a:r>
            <a:br/>
            <a:r>
              <a:t>  http://project-osrm.org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GDACS (Global Disaster Alert &amp; Coordination)</a:t>
            </a:r>
            <a:br/>
            <a:r>
              <a:t>  https://gdacs.org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NASA GIBS (Satellite True-Color Imagery)</a:t>
            </a:r>
            <a:br/>
            <a:r>
              <a:t>  https://earthdata.nasa.gov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Leaflet.js &amp; Recharts (Visualization)</a:t>
            </a:r>
            <a:br/>
            <a:r>
              <a:t>  https://leafletjs.com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46720" y="2103120"/>
            <a:ext cx="3566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1100" b="1">
                <a:solidFill>
                  <a:srgbClr val="E5484D"/>
                </a:solidFill>
                <a:latin typeface="Calibri"/>
              </a:defRPr>
            </a:pPr>
            <a:r>
              <a:t>📚 Research &amp; Standards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UNDRR Sendai Framework 2015–2030</a:t>
            </a:r>
            <a:br/>
            <a:r>
              <a:t>  Target 4: Disaster Resilient Infrastructure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IPCC AR6 Vulnerability Guidelines</a:t>
            </a:r>
            <a:br/>
            <a:r>
              <a:t>  Climate-induced resettlement standards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Smart India Hackathon 2026 Portal</a:t>
            </a:r>
            <a:br/>
            <a:r>
              <a:t>  Problem Statement ID: SIH26191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NDMA SOP on Disaster Relocation</a:t>
            </a:r>
            <a:br/>
            <a:r>
              <a:t>  Standard capacity allocations per person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Team NOVACORE Research Paper</a:t>
            </a:r>
            <a:br/>
            <a:r>
              <a:t>  Proactive GIS Carrying Capacity Models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• Open Source MIT License</a:t>
            </a:r>
            <a:br/>
            <a:r>
              <a:t>  Fully libre software for public good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5257800"/>
            <a:ext cx="11091672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000" b="1">
                <a:solidFill>
                  <a:srgbClr val="0A192F"/>
                </a:solidFill>
                <a:latin typeface="Calibri"/>
              </a:defRPr>
            </a:pPr>
            <a:r>
              <a:t>🌟 HOW THESE SCIENTIFIC &amp; TECHNICAL REFERENCES VALIDATE RAKSHASETU:</a:t>
            </a:r>
          </a:p>
          <a:p>
            <a:pPr>
              <a:defRPr sz="800">
                <a:solidFill>
                  <a:srgbClr val="0F172A"/>
                </a:solidFill>
                <a:latin typeface="Calibri"/>
              </a:defRPr>
            </a:pPr>
            <a:r>
              <a:t>✅ Reliable Open Data: Official government and live sensor feeds ensure real-time hazard detection without manual delay.</a:t>
            </a:r>
            <a:br/>
            <a:r>
              <a:t>✅ Proven Mathematical Methodology: 3-Pillar risk formula and carrying capacity headroom calculations ensure zero subjective bias.</a:t>
            </a:r>
            <a:br/>
            <a:r>
              <a:t>✅ Immediate Administrative Adoption: Structured to fit directly into SDMA / DDMA standard operating procedures for MHA / NDRF.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7709</TotalTime>
  <Words>541</Words>
  <Application>Microsoft Office PowerPoint</Application>
  <PresentationFormat>Custom</PresentationFormat>
  <Paragraphs>95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RAKSHASETU</vt:lpstr>
      <vt:lpstr>TECHNICAL  APPROACH</vt:lpstr>
      <vt:lpstr>FEASIBILITY AND VIABILITY</vt:lpstr>
      <vt:lpstr>IMPACT AND BENEFITS</vt:lpstr>
      <vt:lpstr>RESEARCH AND REFERENCES</vt:lpstr>
    </vt:vector>
  </TitlesOfParts>
  <Company>Crowdfunder,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VINIT MISHRA</dc:creator>
  <cp:lastModifiedBy>Vinit Mishra</cp:lastModifiedBy>
  <cp:revision>163</cp:revision>
  <dcterms:created xsi:type="dcterms:W3CDTF">2013-12-12T18:46:50Z</dcterms:created>
  <dcterms:modified xsi:type="dcterms:W3CDTF">2026-09-04T17:19:09Z</dcterms:modified>
</cp:coreProperties>
</file>